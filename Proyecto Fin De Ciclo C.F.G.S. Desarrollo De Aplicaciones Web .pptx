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18288000" cy="10287000"/>
  <p:notesSz cx="6858000" cy="9144000"/>
  <p:embeddedFontLst>
    <p:embeddedFont>
      <p:font typeface="Century Gothic" panose="020B0502020202020204" pitchFamily="34" charset="0"/>
      <p:regular r:id="rId15"/>
      <p:bold r:id="rId16"/>
      <p:italic r:id="rId17"/>
      <p:boldItalic r:id="rId18"/>
    </p:embeddedFont>
    <p:embeddedFont>
      <p:font typeface="Inclusive Sans" panose="020B0604020202020204" charset="0"/>
      <p:regular r:id="rId19"/>
      <p:bold r:id="rId20"/>
      <p:italic r:id="rId21"/>
      <p:boldItalic r:id="rId22"/>
    </p:embeddedFont>
    <p:embeddedFont>
      <p:font typeface="Merriweather Sans" pitchFamily="2" charset="0"/>
      <p:regular r:id="rId23"/>
      <p:bold r:id="rId24"/>
      <p:italic r:id="rId25"/>
      <p:boldItalic r:id="rId26"/>
    </p:embeddedFont>
    <p:embeddedFont>
      <p:font typeface="Merriweather Sans Light" pitchFamily="2" charset="0"/>
      <p:regular r:id="rId27"/>
      <p:bold r:id="rId28"/>
      <p:italic r:id="rId29"/>
      <p:boldItalic r:id="rId30"/>
    </p:embeddedFont>
    <p:embeddedFont>
      <p:font typeface="Overlock" panose="020B0604020202020204" charset="0"/>
      <p:regular r:id="rId31"/>
      <p:bold r:id="rId32"/>
      <p:italic r:id="rId33"/>
      <p:boldItalic r:id="rId34"/>
    </p:embeddedFont>
    <p:embeddedFont>
      <p:font typeface="Wingdings 3" panose="05040102010807070707" pitchFamily="18" charset="2"/>
      <p:regular r:id="rId3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ipxTCzgj/raAoLfpvkdQWIbiqT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napToGrid="0">
      <p:cViewPr>
        <p:scale>
          <a:sx n="52" d="100"/>
          <a:sy n="52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theme" Target="theme/theme1.xml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4a539f2c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3" name="Google Shape;123;g3e4a539f2c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4a539f2cf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e4a539f2cf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F67AA202-3E63-FF3C-9058-9306BB906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>
            <a:extLst>
              <a:ext uri="{FF2B5EF4-FFF2-40B4-BE49-F238E27FC236}">
                <a16:creationId xmlns:a16="http://schemas.microsoft.com/office/drawing/2014/main" id="{A7B0DC52-98C6-AF89-FD4C-3D3DC8E82E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E8630DBD-2ABD-62EF-88FF-884E0C8440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0068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4D7C8F01-A41C-C56F-79D6-925E10ACD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>
            <a:extLst>
              <a:ext uri="{FF2B5EF4-FFF2-40B4-BE49-F238E27FC236}">
                <a16:creationId xmlns:a16="http://schemas.microsoft.com/office/drawing/2014/main" id="{7E09E803-0E56-80AA-3B87-4FE8CED147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07CE00C5-007D-D8D3-88E6-F861B46ECD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08317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3" name="Google Shape;18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3559"/>
            <a:ext cx="18288000" cy="10300541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2433" y="3149600"/>
            <a:ext cx="13238487" cy="4016472"/>
          </a:xfrm>
        </p:spPr>
        <p:txBody>
          <a:bodyPr anchor="b"/>
          <a:lstStyle>
            <a:lvl1pPr>
              <a:defRPr sz="8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2433" y="7166070"/>
            <a:ext cx="13238487" cy="129213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5134086" y="2688335"/>
            <a:ext cx="1485899" cy="4571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673F5223-2D69-48FC-91B3-EE950C8C9B6D}" type="datetimeFigureOut">
              <a:rPr lang="es-ES" smtClean="0"/>
              <a:t>01/06/2026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13439389" y="4840231"/>
            <a:ext cx="5789693" cy="457202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s-ES"/>
          </a:p>
        </p:txBody>
      </p:sp>
      <p:sp>
        <p:nvSpPr>
          <p:cNvPr id="10" name="Rectangle 9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526513" y="438913"/>
            <a:ext cx="1257299" cy="1151531"/>
          </a:xfrm>
        </p:spPr>
        <p:txBody>
          <a:bodyPr/>
          <a:lstStyle>
            <a:lvl1pPr>
              <a:defRPr sz="4200" b="0" i="0">
                <a:latin typeface="+mj-lt"/>
              </a:defRPr>
            </a:lvl1pPr>
          </a:lstStyle>
          <a:p>
            <a:fld id="{37ACC8CD-08D2-43DE-A4F9-E7DCB333BEF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5084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F5223-2D69-48FC-91B3-EE950C8C9B6D}" type="datetimeFigureOut">
              <a:rPr lang="es-ES" smtClean="0"/>
              <a:t>01/06/2026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CC8CD-08D2-43DE-A4F9-E7DCB333BEF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3983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3559"/>
            <a:ext cx="18288000" cy="10300541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5" y="4016468"/>
            <a:ext cx="6526535" cy="3425736"/>
          </a:xfrm>
        </p:spPr>
        <p:txBody>
          <a:bodyPr anchor="ctr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43338" y="4016467"/>
            <a:ext cx="5633069" cy="3425735"/>
          </a:xfrm>
        </p:spPr>
        <p:txBody>
          <a:bodyPr anchor="ctr"/>
          <a:lstStyle>
            <a:lvl1pPr marL="0" indent="0" algn="l">
              <a:buNone/>
              <a:defRPr sz="3000" cap="all">
                <a:solidFill>
                  <a:schemeClr val="accent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5" name="Rectangle 14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46976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31" y="3905251"/>
            <a:ext cx="7237737" cy="512445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13069" y="3905250"/>
            <a:ext cx="7237739" cy="51244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8252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2" y="3905250"/>
            <a:ext cx="7237736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2431" y="4769644"/>
            <a:ext cx="7237737" cy="426005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313069" y="3905250"/>
            <a:ext cx="7237739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313065" y="4769644"/>
            <a:ext cx="7237739" cy="426005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92021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75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Rectangle 6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16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3559"/>
            <a:ext cx="18288000" cy="10300541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1943100"/>
            <a:ext cx="4189739" cy="2400300"/>
          </a:xfrm>
        </p:spPr>
        <p:txBody>
          <a:bodyPr anchor="b"/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71720" y="2171700"/>
            <a:ext cx="7785098" cy="6858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732433" y="4343401"/>
            <a:ext cx="4189737" cy="4693919"/>
          </a:xfrm>
        </p:spPr>
        <p:txBody>
          <a:bodyPr/>
          <a:lstStyle>
            <a:lvl1pPr marL="0" indent="0">
              <a:buNone/>
              <a:defRPr sz="2100">
                <a:solidFill>
                  <a:schemeClr val="accent1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5" name="Rectangle 14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806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3559"/>
            <a:ext cx="18288000" cy="10300541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0861" y="2539998"/>
            <a:ext cx="5790390" cy="2603502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21806" y="1714500"/>
            <a:ext cx="4840790" cy="6858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732433" y="5486400"/>
            <a:ext cx="5788818" cy="20574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accent1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4" name="Rectangle 13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7620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3559"/>
            <a:ext cx="18288000" cy="10300541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5" y="7450011"/>
            <a:ext cx="13238486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32433" y="1028700"/>
            <a:ext cx="13238487" cy="5143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732434" y="8304998"/>
            <a:ext cx="13238484" cy="74056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3" name="Rectangle 12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16971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3559"/>
            <a:ext cx="18288000" cy="10300541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1595124"/>
            <a:ext cx="13238489" cy="206963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5314950"/>
            <a:ext cx="13238489" cy="3714750"/>
          </a:xfrm>
        </p:spPr>
        <p:txBody>
          <a:bodyPr anchor="ctr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3" name="Rectangle 12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48388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3559"/>
            <a:ext cx="18288000" cy="10300541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14579157" y="3947723"/>
            <a:ext cx="12028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144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7443" y="886640"/>
            <a:ext cx="12028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144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2817" y="1470776"/>
            <a:ext cx="12680859" cy="4047374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2918918" y="5518149"/>
            <a:ext cx="11588658" cy="513261"/>
          </a:xfrm>
        </p:spPr>
        <p:txBody>
          <a:bodyPr anchor="t">
            <a:normAutofit/>
          </a:bodyPr>
          <a:lstStyle>
            <a:lvl1pPr marL="0" indent="0">
              <a:buNone/>
              <a:defRPr lang="en-US" sz="21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6525986"/>
            <a:ext cx="13238489" cy="2514600"/>
          </a:xfrm>
        </p:spPr>
        <p:txBody>
          <a:bodyPr anchor="ctr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2" name="Rectangle 31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72334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3559"/>
            <a:ext cx="18288000" cy="10300541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1" y="3556001"/>
            <a:ext cx="13238490" cy="2733771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2" y="7549602"/>
            <a:ext cx="13238489" cy="1290600"/>
          </a:xfrm>
        </p:spPr>
        <p:txBody>
          <a:bodyPr anchor="t"/>
          <a:lstStyle>
            <a:lvl1pPr marL="0" indent="0" algn="l">
              <a:buNone/>
              <a:defRPr sz="3000" cap="none">
                <a:solidFill>
                  <a:schemeClr val="accent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2" name="Rectangle 11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43169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1" y="3925949"/>
            <a:ext cx="4693752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732431" y="4790342"/>
            <a:ext cx="4693752" cy="425024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69082" y="3905253"/>
            <a:ext cx="4718070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6769082" y="4790342"/>
            <a:ext cx="4718070" cy="4250243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830051" y="3925949"/>
            <a:ext cx="4741544" cy="864392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11830051" y="4790342"/>
            <a:ext cx="4747079" cy="4250240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6605956" y="3854450"/>
            <a:ext cx="0" cy="523874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1658602" y="3854450"/>
            <a:ext cx="0" cy="523874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55261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29" y="6799268"/>
            <a:ext cx="4575659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2001828" y="3905250"/>
            <a:ext cx="4036863" cy="2387265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732430" y="7663661"/>
            <a:ext cx="4575656" cy="137692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58806" y="6799269"/>
            <a:ext cx="4570149" cy="976734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7122695" y="3905250"/>
            <a:ext cx="4036862" cy="2387265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6853298" y="7776003"/>
            <a:ext cx="4575657" cy="126458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975151" y="6799271"/>
            <a:ext cx="4575657" cy="976731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2244547" y="3905250"/>
            <a:ext cx="4036863" cy="2387265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11975152" y="7776002"/>
            <a:ext cx="4575656" cy="1264581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6582230" y="3905250"/>
            <a:ext cx="0" cy="5276391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1702858" y="3905250"/>
            <a:ext cx="0" cy="523875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4982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0" y="1460502"/>
            <a:ext cx="13238490" cy="10604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6583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3559"/>
            <a:ext cx="18288000" cy="10300541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65135" y="1917702"/>
            <a:ext cx="2120900" cy="7122884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431" y="1917702"/>
            <a:ext cx="9371319" cy="71228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3" name="Rectangle 12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343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3559"/>
            <a:ext cx="18288000" cy="10300541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732430" y="1460502"/>
            <a:ext cx="13142120" cy="10604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3" y="3905250"/>
            <a:ext cx="13142118" cy="512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976408" y="9591092"/>
            <a:ext cx="1485899" cy="4571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500" b="1" i="0">
                <a:solidFill>
                  <a:schemeClr val="accent1"/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92538" y="9587758"/>
            <a:ext cx="5789693" cy="4572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5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s-ES"/>
          </a:p>
        </p:txBody>
      </p:sp>
      <p:sp>
        <p:nvSpPr>
          <p:cNvPr id="22" name="Rectangle 21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28811" y="443594"/>
            <a:ext cx="1257299" cy="11515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42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0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sz="54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D39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"/>
          <p:cNvGrpSpPr/>
          <p:nvPr/>
        </p:nvGrpSpPr>
        <p:grpSpPr>
          <a:xfrm>
            <a:off x="7762435" y="6123818"/>
            <a:ext cx="10085847" cy="919523"/>
            <a:chOff x="0" y="-103"/>
            <a:chExt cx="2387100" cy="161700"/>
          </a:xfrm>
        </p:grpSpPr>
        <p:sp>
          <p:nvSpPr>
            <p:cNvPr id="79" name="Google Shape;79;p1"/>
            <p:cNvSpPr/>
            <p:nvPr/>
          </p:nvSpPr>
          <p:spPr>
            <a:xfrm>
              <a:off x="0" y="0"/>
              <a:ext cx="2387010" cy="161597"/>
            </a:xfrm>
            <a:custGeom>
              <a:avLst/>
              <a:gdLst/>
              <a:ahLst/>
              <a:cxnLst/>
              <a:rect l="l" t="t" r="r" b="b"/>
              <a:pathLst>
                <a:path w="2387010" h="161597" extrusionOk="0">
                  <a:moveTo>
                    <a:pt x="8542" y="0"/>
                  </a:moveTo>
                  <a:lnTo>
                    <a:pt x="2378468" y="0"/>
                  </a:lnTo>
                  <a:cubicBezTo>
                    <a:pt x="2383186" y="0"/>
                    <a:pt x="2387010" y="3824"/>
                    <a:pt x="2387010" y="8542"/>
                  </a:cubicBezTo>
                  <a:lnTo>
                    <a:pt x="2387010" y="153055"/>
                  </a:lnTo>
                  <a:cubicBezTo>
                    <a:pt x="2387010" y="155320"/>
                    <a:pt x="2386110" y="157493"/>
                    <a:pt x="2384508" y="159095"/>
                  </a:cubicBezTo>
                  <a:cubicBezTo>
                    <a:pt x="2382906" y="160697"/>
                    <a:pt x="2380734" y="161597"/>
                    <a:pt x="2378468" y="161597"/>
                  </a:cubicBezTo>
                  <a:lnTo>
                    <a:pt x="8542" y="161597"/>
                  </a:lnTo>
                  <a:cubicBezTo>
                    <a:pt x="6277" y="161597"/>
                    <a:pt x="4104" y="160697"/>
                    <a:pt x="2502" y="159095"/>
                  </a:cubicBezTo>
                  <a:cubicBezTo>
                    <a:pt x="900" y="157493"/>
                    <a:pt x="0" y="155320"/>
                    <a:pt x="0" y="153055"/>
                  </a:cubicBezTo>
                  <a:lnTo>
                    <a:pt x="0" y="8542"/>
                  </a:lnTo>
                  <a:cubicBezTo>
                    <a:pt x="0" y="6277"/>
                    <a:pt x="900" y="4104"/>
                    <a:pt x="2502" y="2502"/>
                  </a:cubicBezTo>
                  <a:cubicBezTo>
                    <a:pt x="4104" y="900"/>
                    <a:pt x="6277" y="0"/>
                    <a:pt x="8542" y="0"/>
                  </a:cubicBezTo>
                  <a:close/>
                </a:path>
              </a:pathLst>
            </a:custGeom>
            <a:gradFill>
              <a:gsLst>
                <a:gs pos="0">
                  <a:srgbClr val="8C52FF"/>
                </a:gs>
                <a:gs pos="100000">
                  <a:srgbClr val="FFFFFF">
                    <a:alpha val="11372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"/>
            <p:cNvSpPr txBox="1"/>
            <p:nvPr/>
          </p:nvSpPr>
          <p:spPr>
            <a:xfrm>
              <a:off x="0" y="-103"/>
              <a:ext cx="23871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 b="0" i="0" u="none" strike="noStrike" cap="none" dirty="0">
                  <a:solidFill>
                    <a:srgbClr val="F9F6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Proyecto Fin De Ciclo C.F.G.S. Desarrollo De Aplicaciones Web </a:t>
              </a:r>
              <a:endParaRPr sz="1600" dirty="0"/>
            </a:p>
          </p:txBody>
        </p:sp>
      </p:grpSp>
      <p:sp>
        <p:nvSpPr>
          <p:cNvPr id="81" name="Google Shape;81;p1"/>
          <p:cNvSpPr txBox="1"/>
          <p:nvPr/>
        </p:nvSpPr>
        <p:spPr>
          <a:xfrm>
            <a:off x="7762420" y="3602179"/>
            <a:ext cx="9063300" cy="16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lang="en-US" sz="10900" b="1" i="0" u="none" strike="noStrike" cap="none">
                <a:solidFill>
                  <a:srgbClr val="F9F6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Elite Players</a:t>
            </a:r>
            <a:endParaRPr sz="19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16203082" y="9430559"/>
            <a:ext cx="1645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500" b="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Jun</a:t>
            </a:r>
            <a:r>
              <a:rPr lang="en-US" sz="250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io </a:t>
            </a:r>
            <a:r>
              <a:rPr lang="en-US" sz="2500" b="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2026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9361245" y="9430559"/>
            <a:ext cx="6120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700" b="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Sagar Pokhrel , Christian  Pulido Ruiz 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p1" title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050" y="2282425"/>
            <a:ext cx="5333100" cy="4934100"/>
          </a:xfrm>
          <a:prstGeom prst="ellipse">
            <a:avLst/>
          </a:prstGeom>
          <a:noFill/>
          <a:ln w="63500" cap="rnd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292100" dir="5400000" sx="-80000" sy="-18000" rotWithShape="0">
              <a:srgbClr val="000000">
                <a:alpha val="2196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D39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470350" y="3946600"/>
            <a:ext cx="7279200" cy="16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lang="en-US" sz="10700" b="1">
                <a:solidFill>
                  <a:schemeClr val="lt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Indice</a:t>
            </a:r>
            <a:endParaRPr sz="1700" b="1" i="0" u="none" strike="noStrike" cap="none">
              <a:solidFill>
                <a:schemeClr val="lt1"/>
              </a:solidFill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7253254" y="1303515"/>
            <a:ext cx="7542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4299" b="1" i="0" u="none" strike="noStrike" cap="none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1</a:t>
            </a:r>
            <a:endParaRPr sz="1700" b="1" i="0" u="none" strike="noStrike" cap="none">
              <a:solidFill>
                <a:schemeClr val="lt1"/>
              </a:solidFill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7253254" y="2184546"/>
            <a:ext cx="7542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4299" b="1" i="0" u="none" strike="noStrike" cap="none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2</a:t>
            </a:r>
            <a:endParaRPr sz="1700" b="1" i="0" u="none" strike="noStrike" cap="none">
              <a:solidFill>
                <a:schemeClr val="lt1"/>
              </a:solidFill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7253254" y="3065576"/>
            <a:ext cx="7542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4299" b="1" i="0" u="none" strike="noStrike" cap="none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3</a:t>
            </a:r>
            <a:endParaRPr sz="1700" b="1" i="0" u="none" strike="noStrike" cap="none">
              <a:solidFill>
                <a:schemeClr val="lt1"/>
              </a:solidFill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7253254" y="3874257"/>
            <a:ext cx="7542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4299" b="1" i="0" u="none" strike="noStrike" cap="none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4</a:t>
            </a:r>
            <a:endParaRPr sz="1700" b="1" i="0" u="none" strike="noStrike" cap="none">
              <a:solidFill>
                <a:schemeClr val="lt1"/>
              </a:solidFill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7253254" y="4674113"/>
            <a:ext cx="7542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4299" b="1" i="0" u="none" strike="noStrike" cap="none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5</a:t>
            </a:r>
            <a:endParaRPr sz="1700" b="1" i="0" u="none" strike="noStrike" cap="none">
              <a:solidFill>
                <a:schemeClr val="lt1"/>
              </a:solidFill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7510686" y="5474000"/>
            <a:ext cx="6513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4299" b="1" i="0" u="none" strike="noStrike" cap="none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6</a:t>
            </a:r>
            <a:endParaRPr sz="1700" b="1" i="0" u="none" strike="noStrike" cap="none">
              <a:solidFill>
                <a:schemeClr val="lt1"/>
              </a:solidFill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8075213" y="1334271"/>
            <a:ext cx="65943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900" b="1" i="0" u="none" strike="noStrike" cap="none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Introduc</a:t>
            </a:r>
            <a:r>
              <a:rPr lang="en-US" sz="3900" b="1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</a:t>
            </a:r>
            <a:r>
              <a:rPr lang="en-US" sz="3900" b="1" i="0" u="none" strike="noStrike" cap="none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ión</a:t>
            </a:r>
            <a:endParaRPr sz="1700" b="1" i="0" u="none" strike="noStrike" cap="none" dirty="0">
              <a:solidFill>
                <a:schemeClr val="lt1"/>
              </a:solidFill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8075210" y="2215302"/>
            <a:ext cx="65943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Motivación</a:t>
            </a:r>
            <a:endParaRPr sz="1700" b="1" dirty="0">
              <a:solidFill>
                <a:schemeClr val="lt1"/>
              </a:solidFill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8007464" y="3096319"/>
            <a:ext cx="65943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900" b="1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Objetivo</a:t>
            </a:r>
            <a:r>
              <a:rPr lang="en-US" sz="3900" b="1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general</a:t>
            </a:r>
            <a:endParaRPr sz="3900" b="1" dirty="0">
              <a:solidFill>
                <a:schemeClr val="lt1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8007464" y="3860024"/>
            <a:ext cx="65943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900" b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Objetivos específicos</a:t>
            </a:r>
            <a:endParaRPr sz="3900" b="1">
              <a:solidFill>
                <a:schemeClr val="lt1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8073414" y="4720868"/>
            <a:ext cx="6597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900" b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Tecnologías</a:t>
            </a:r>
            <a:endParaRPr sz="3900" b="1">
              <a:solidFill>
                <a:schemeClr val="lt1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8073410" y="5504750"/>
            <a:ext cx="8868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700" b="1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Arquitectura</a:t>
            </a:r>
            <a:r>
              <a:rPr lang="en-US" sz="3700" b="1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web y </a:t>
            </a:r>
            <a:r>
              <a:rPr lang="en-US" sz="3700" b="1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modelo</a:t>
            </a:r>
            <a:endParaRPr sz="2700" b="1" i="1" dirty="0">
              <a:solidFill>
                <a:schemeClr val="lt1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4362960" y="5504750"/>
            <a:ext cx="5454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Cliente-Servidor</a:t>
            </a:r>
            <a:endParaRPr sz="10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D39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3"/>
          <p:cNvGrpSpPr/>
          <p:nvPr/>
        </p:nvGrpSpPr>
        <p:grpSpPr>
          <a:xfrm>
            <a:off x="0" y="2425143"/>
            <a:ext cx="10036244" cy="5756668"/>
            <a:chOff x="0" y="0"/>
            <a:chExt cx="7981950" cy="4578350"/>
          </a:xfrm>
        </p:grpSpPr>
        <p:sp>
          <p:nvSpPr>
            <p:cNvPr id="108" name="Google Shape;108;p3"/>
            <p:cNvSpPr/>
            <p:nvPr/>
          </p:nvSpPr>
          <p:spPr>
            <a:xfrm>
              <a:off x="765810" y="21590"/>
              <a:ext cx="6451600" cy="4326890"/>
            </a:xfrm>
            <a:custGeom>
              <a:avLst/>
              <a:gdLst/>
              <a:ahLst/>
              <a:cxnLst/>
              <a:rect l="l" t="t" r="r" b="b"/>
              <a:pathLst>
                <a:path w="6451600" h="4326890" extrusionOk="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0" y="0"/>
              <a:ext cx="7981950" cy="4542790"/>
            </a:xfrm>
            <a:custGeom>
              <a:avLst/>
              <a:gdLst/>
              <a:ahLst/>
              <a:cxnLst/>
              <a:rect l="l" t="t" r="r" b="b"/>
              <a:pathLst>
                <a:path w="7981950" h="4542790" extrusionOk="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3460750" y="4349750"/>
              <a:ext cx="1059180" cy="96520"/>
            </a:xfrm>
            <a:custGeom>
              <a:avLst/>
              <a:gdLst/>
              <a:ahLst/>
              <a:cxnLst/>
              <a:rect l="l" t="t" r="r" b="b"/>
              <a:pathLst>
                <a:path w="1059180" h="96520" extrusionOk="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163830" y="4542790"/>
              <a:ext cx="7654290" cy="35560"/>
            </a:xfrm>
            <a:custGeom>
              <a:avLst/>
              <a:gdLst/>
              <a:ahLst/>
              <a:cxnLst/>
              <a:rect l="l" t="t" r="r" b="b"/>
              <a:pathLst>
                <a:path w="7654290" h="35560" extrusionOk="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2" name="Google Shape;11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622" y="2876204"/>
            <a:ext cx="7778204" cy="46883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3"/>
          <p:cNvGrpSpPr/>
          <p:nvPr/>
        </p:nvGrpSpPr>
        <p:grpSpPr>
          <a:xfrm>
            <a:off x="0" y="-325486"/>
            <a:ext cx="18288000" cy="706486"/>
            <a:chOff x="0" y="-85725"/>
            <a:chExt cx="4816593" cy="186071"/>
          </a:xfrm>
        </p:grpSpPr>
        <p:sp>
          <p:nvSpPr>
            <p:cNvPr id="114" name="Google Shape;114;p3"/>
            <p:cNvSpPr/>
            <p:nvPr/>
          </p:nvSpPr>
          <p:spPr>
            <a:xfrm>
              <a:off x="0" y="0"/>
              <a:ext cx="4816592" cy="100346"/>
            </a:xfrm>
            <a:custGeom>
              <a:avLst/>
              <a:gdLst/>
              <a:ahLst/>
              <a:cxnLst/>
              <a:rect l="l" t="t" r="r" b="b"/>
              <a:pathLst>
                <a:path w="4816592" h="100346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00346"/>
                  </a:lnTo>
                  <a:lnTo>
                    <a:pt x="0" y="100346"/>
                  </a:lnTo>
                  <a:close/>
                </a:path>
              </a:pathLst>
            </a:custGeom>
            <a:gradFill>
              <a:gsLst>
                <a:gs pos="0">
                  <a:srgbClr val="8C52FF"/>
                </a:gs>
                <a:gs pos="100000">
                  <a:srgbClr val="FFFFFF">
                    <a:alpha val="11372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3"/>
            <p:cNvSpPr txBox="1"/>
            <p:nvPr/>
          </p:nvSpPr>
          <p:spPr>
            <a:xfrm>
              <a:off x="0" y="-85725"/>
              <a:ext cx="4816593" cy="186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3"/>
          <p:cNvSpPr txBox="1"/>
          <p:nvPr/>
        </p:nvSpPr>
        <p:spPr>
          <a:xfrm>
            <a:off x="9830250" y="3073485"/>
            <a:ext cx="77454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0" i="0" u="none" strike="noStrike" cap="none" dirty="0" err="1">
                <a:solidFill>
                  <a:srgbClr val="A477FF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Introducción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9773269" y="4814132"/>
            <a:ext cx="7745400" cy="290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Este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proyecto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propone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el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desarrollo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de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una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aplicación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web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que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permita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almacenar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,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gestionar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y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analizar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datos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de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jugadores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de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fútbol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de forma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centralizada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,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eficiente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y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segura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.</a:t>
            </a:r>
            <a:endParaRPr sz="1800" dirty="0"/>
          </a:p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F9F6FF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381000" y="9614535"/>
            <a:ext cx="4314825" cy="29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sng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overview page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4351434" y="4392068"/>
            <a:ext cx="4571392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9F6FF"/>
                </a:solidFill>
                <a:latin typeface="Overlock"/>
                <a:ea typeface="Overlock"/>
                <a:cs typeface="Overlock"/>
                <a:sym typeface="Overlock"/>
              </a:rPr>
              <a:t>Elite  Players</a:t>
            </a:r>
            <a:endParaRPr sz="1200" b="1" i="1" u="none" strike="noStrike" cap="none">
              <a:solidFill>
                <a:srgbClr val="000000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pic>
        <p:nvPicPr>
          <p:cNvPr id="120" name="Google Shape;120;p3" title="logo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63276" y="4292531"/>
            <a:ext cx="1497300" cy="1497300"/>
          </a:xfrm>
          <a:prstGeom prst="ellipse">
            <a:avLst/>
          </a:prstGeom>
          <a:noFill/>
          <a:ln w="63500" cap="rnd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292100" dir="5400000" sx="-80000" sy="-18000" rotWithShape="0">
              <a:srgbClr val="000000">
                <a:alpha val="2196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D39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g3e4a539f2cf_0_2"/>
          <p:cNvGrpSpPr/>
          <p:nvPr/>
        </p:nvGrpSpPr>
        <p:grpSpPr>
          <a:xfrm>
            <a:off x="0" y="-325489"/>
            <a:ext cx="18288118" cy="706493"/>
            <a:chOff x="0" y="-85725"/>
            <a:chExt cx="4816592" cy="186071"/>
          </a:xfrm>
        </p:grpSpPr>
        <p:sp>
          <p:nvSpPr>
            <p:cNvPr id="126" name="Google Shape;126;g3e4a539f2cf_0_2"/>
            <p:cNvSpPr/>
            <p:nvPr/>
          </p:nvSpPr>
          <p:spPr>
            <a:xfrm>
              <a:off x="0" y="0"/>
              <a:ext cx="4816592" cy="100346"/>
            </a:xfrm>
            <a:custGeom>
              <a:avLst/>
              <a:gdLst/>
              <a:ahLst/>
              <a:cxnLst/>
              <a:rect l="l" t="t" r="r" b="b"/>
              <a:pathLst>
                <a:path w="4816592" h="100346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00346"/>
                  </a:lnTo>
                  <a:lnTo>
                    <a:pt x="0" y="100346"/>
                  </a:lnTo>
                  <a:close/>
                </a:path>
              </a:pathLst>
            </a:custGeom>
            <a:gradFill>
              <a:gsLst>
                <a:gs pos="0">
                  <a:srgbClr val="8C52FF"/>
                </a:gs>
                <a:gs pos="100000">
                  <a:srgbClr val="FFFFFF">
                    <a:alpha val="11372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g3e4a539f2cf_0_2"/>
            <p:cNvSpPr txBox="1"/>
            <p:nvPr/>
          </p:nvSpPr>
          <p:spPr>
            <a:xfrm>
              <a:off x="0" y="-85725"/>
              <a:ext cx="4816500" cy="1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g3e4a539f2cf_0_2"/>
          <p:cNvSpPr txBox="1"/>
          <p:nvPr/>
        </p:nvSpPr>
        <p:spPr>
          <a:xfrm>
            <a:off x="9830250" y="3073485"/>
            <a:ext cx="7745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e4a539f2cf_0_2"/>
          <p:cNvSpPr txBox="1"/>
          <p:nvPr/>
        </p:nvSpPr>
        <p:spPr>
          <a:xfrm>
            <a:off x="9773269" y="4814132"/>
            <a:ext cx="774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9F6FF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</p:txBody>
      </p:sp>
      <p:sp>
        <p:nvSpPr>
          <p:cNvPr id="130" name="Google Shape;130;g3e4a539f2cf_0_2"/>
          <p:cNvSpPr txBox="1"/>
          <p:nvPr/>
        </p:nvSpPr>
        <p:spPr>
          <a:xfrm>
            <a:off x="381000" y="9614535"/>
            <a:ext cx="4314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sng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overview page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e4a539f2cf_0_2"/>
          <p:cNvSpPr txBox="1"/>
          <p:nvPr/>
        </p:nvSpPr>
        <p:spPr>
          <a:xfrm>
            <a:off x="834475" y="1648485"/>
            <a:ext cx="77454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dirty="0" err="1">
                <a:solidFill>
                  <a:srgbClr val="A477FF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Motivación</a:t>
            </a:r>
            <a:r>
              <a:rPr lang="en-US" sz="8000" dirty="0">
                <a:solidFill>
                  <a:srgbClr val="A477FF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e4a539f2cf_0_2"/>
          <p:cNvSpPr txBox="1"/>
          <p:nvPr/>
        </p:nvSpPr>
        <p:spPr>
          <a:xfrm>
            <a:off x="907808" y="1851280"/>
            <a:ext cx="16480547" cy="7920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	 	</a:t>
            </a:r>
            <a:endParaRPr sz="2800" dirty="0">
              <a:solidFill>
                <a:schemeClr val="lt1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	 	</a:t>
            </a:r>
            <a:endParaRPr sz="2800" dirty="0">
              <a:solidFill>
                <a:schemeClr val="lt1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  <a:p>
            <a:pPr marL="0" lvl="0" indent="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Elite Players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nace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 con la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finalidad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de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implementar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los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conociminetos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adquiridos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a lo largo del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curso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en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un Proyecto.</a:t>
            </a:r>
          </a:p>
          <a:p>
            <a:pPr marL="0" lvl="0" indent="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2800" dirty="0">
              <a:solidFill>
                <a:schemeClr val="lt1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  <a:p>
            <a:pPr marL="0" lvl="0" indent="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lt1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  <a:p>
            <a:pPr marL="50800">
              <a:lnSpc>
                <a:spcPct val="115000"/>
              </a:lnSpc>
              <a:spcBef>
                <a:spcPts val="1200"/>
              </a:spcBef>
              <a:buClr>
                <a:schemeClr val="lt1"/>
              </a:buClr>
              <a:buSzPts val="2800"/>
            </a:pPr>
            <a:r>
              <a:rPr lang="es-E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Se trata de un sitio web de jugadores de fútbol donde consultar listado de jugadores y partidos y poder vender (transferencia) jugadores.</a:t>
            </a:r>
          </a:p>
          <a:p>
            <a:pPr marL="50800">
              <a:lnSpc>
                <a:spcPct val="115000"/>
              </a:lnSpc>
              <a:spcBef>
                <a:spcPts val="1200"/>
              </a:spcBef>
              <a:buClr>
                <a:schemeClr val="lt1"/>
              </a:buClr>
              <a:buSzPts val="2800"/>
            </a:pPr>
            <a:endParaRPr lang="es-ES" sz="2800" dirty="0">
              <a:solidFill>
                <a:schemeClr val="lt1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  <a:p>
            <a:pPr marL="508000" indent="-457200">
              <a:lnSpc>
                <a:spcPct val="115000"/>
              </a:lnSpc>
              <a:spcBef>
                <a:spcPts val="1200"/>
              </a:spcBef>
              <a:buClr>
                <a:schemeClr val="lt1"/>
              </a:buClr>
              <a:buSzPts val="2800"/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U</a:t>
            </a:r>
            <a:r>
              <a:rPr lang="es-E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n </a:t>
            </a:r>
            <a:r>
              <a:rPr lang="es-ES" sz="2800" b="1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panel de administración </a:t>
            </a:r>
            <a:r>
              <a:rPr lang="es-E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para mantener jugadores y partidos.</a:t>
            </a:r>
          </a:p>
          <a:p>
            <a:pPr marL="508000" indent="-457200">
              <a:lnSpc>
                <a:spcPct val="115000"/>
              </a:lnSpc>
              <a:spcBef>
                <a:spcPts val="1200"/>
              </a:spcBef>
              <a:buClr>
                <a:schemeClr val="lt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Un </a:t>
            </a:r>
            <a:r>
              <a:rPr lang="en-US" sz="2800" b="1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portal de consulta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atractivo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para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usuarios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registrados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.</a:t>
            </a:r>
          </a:p>
          <a:p>
            <a:pPr marL="508000" lvl="0" indent="-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Módulos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complementarios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: </a:t>
            </a:r>
            <a:r>
              <a:rPr lang="en-US" sz="2800" b="1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favoritos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, </a:t>
            </a:r>
            <a:r>
              <a:rPr lang="en-US" sz="2800" b="1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calendario</a:t>
            </a:r>
            <a:r>
              <a:rPr lang="en-US" sz="2800" b="1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de </a:t>
            </a:r>
            <a:r>
              <a:rPr lang="en-US" sz="2800" b="1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partidos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y </a:t>
            </a:r>
            <a:r>
              <a:rPr lang="en-US" sz="2800" b="1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mercado de </a:t>
            </a:r>
            <a:r>
              <a:rPr lang="en-US" sz="2800" b="1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transferencias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.</a:t>
            </a:r>
            <a:endParaRPr sz="2800" dirty="0">
              <a:solidFill>
                <a:schemeClr val="lt1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  <a:p>
            <a:pPr marL="0" marR="0" lvl="0" indent="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dirty="0">
              <a:solidFill>
                <a:srgbClr val="F9F6FF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</p:txBody>
      </p:sp>
      <p:sp>
        <p:nvSpPr>
          <p:cNvPr id="4" name="Google Shape;131;g3e4a539f2cf_0_2">
            <a:extLst>
              <a:ext uri="{FF2B5EF4-FFF2-40B4-BE49-F238E27FC236}">
                <a16:creationId xmlns:a16="http://schemas.microsoft.com/office/drawing/2014/main" id="{1D840889-8233-46DE-C694-4AA3F6610B8F}"/>
              </a:ext>
            </a:extLst>
          </p:cNvPr>
          <p:cNvSpPr txBox="1"/>
          <p:nvPr/>
        </p:nvSpPr>
        <p:spPr>
          <a:xfrm>
            <a:off x="834475" y="4265583"/>
            <a:ext cx="15359254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dirty="0" err="1">
                <a:solidFill>
                  <a:srgbClr val="A477FF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Descripción</a:t>
            </a:r>
            <a:r>
              <a:rPr lang="en-US" sz="8000" dirty="0">
                <a:solidFill>
                  <a:srgbClr val="A477FF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 del Proyecto: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D39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/>
          <p:nvPr/>
        </p:nvSpPr>
        <p:spPr>
          <a:xfrm>
            <a:off x="571495" y="2730298"/>
            <a:ext cx="8001000" cy="13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99" b="0" i="0" u="none" strike="noStrike" cap="none">
                <a:solidFill>
                  <a:srgbClr val="A477FF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Objetivo general:</a:t>
            </a:r>
            <a:endParaRPr/>
          </a:p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583307" y="4106287"/>
            <a:ext cx="67362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Desarrollar una aplicación web que permita gestionar jugadores de fútbol, facilitando el almacenamiento, búsqueda y análisis de su información.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381000" y="9614535"/>
            <a:ext cx="4314825" cy="29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sng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overview page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9500" y="1082051"/>
            <a:ext cx="10770375" cy="733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D39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/>
          <p:nvPr/>
        </p:nvSpPr>
        <p:spPr>
          <a:xfrm>
            <a:off x="381000" y="9614535"/>
            <a:ext cx="4314825" cy="29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sng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overview page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468731" y="977127"/>
            <a:ext cx="8454188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A477FF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Objetivos específicos:</a:t>
            </a:r>
            <a:endParaRPr/>
          </a:p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zz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381000" y="2392093"/>
            <a:ext cx="9083100" cy="48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- Registrar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jugadores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y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partidos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de forma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rápida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,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incluso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con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datos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incompletos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-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Editar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,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eliminar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y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visualizar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jugadores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-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Filtrar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jugadores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por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diferentes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criterios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(club,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posición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,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nivel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, etc.)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-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Gestionar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usuarios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con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permisos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y roles.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-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Implementar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seguridad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(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contraseñas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cifradas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y 2FA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si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es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posible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).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-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Permitir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subida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de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fotos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y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vídeos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- Crear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una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interfaz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responsive y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fácil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de usar.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-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Optimizar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la web para SEO.</a:t>
            </a:r>
            <a:endParaRPr dirty="0"/>
          </a:p>
        </p:txBody>
      </p:sp>
      <p:pic>
        <p:nvPicPr>
          <p:cNvPr id="148" name="Google Shape;148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10693" y="537632"/>
            <a:ext cx="6058224" cy="3114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10693" y="4341380"/>
            <a:ext cx="6058224" cy="3814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D39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 txBox="1"/>
          <p:nvPr/>
        </p:nvSpPr>
        <p:spPr>
          <a:xfrm>
            <a:off x="381000" y="672465"/>
            <a:ext cx="8081212" cy="1440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99" b="0" i="0" u="none" strike="noStrike" cap="none">
                <a:solidFill>
                  <a:srgbClr val="A477FF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Tecnologías:</a:t>
            </a:r>
            <a:endParaRPr sz="6399" b="0" i="0" u="none" strike="noStrike" cap="none">
              <a:solidFill>
                <a:srgbClr val="A477FF"/>
              </a:solidFill>
              <a:latin typeface="Merriweather Sans Light"/>
              <a:ea typeface="Merriweather Sans Light"/>
              <a:cs typeface="Merriweather Sans Light"/>
              <a:sym typeface="Merriweather Sans Light"/>
            </a:endParaRPr>
          </a:p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381000" y="9614535"/>
            <a:ext cx="4314825" cy="29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sng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overview page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381000" y="2316450"/>
            <a:ext cx="16364700" cy="3429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dirty="0">
                <a:solidFill>
                  <a:schemeClr val="dk1"/>
                </a:solidFill>
              </a:rPr>
              <a:t>	 	</a:t>
            </a:r>
            <a:endParaRPr sz="1100" dirty="0">
              <a:solidFill>
                <a:schemeClr val="dk1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dirty="0">
                <a:solidFill>
                  <a:schemeClr val="dk1"/>
                </a:solidFill>
              </a:rPr>
              <a:t>	 	</a:t>
            </a:r>
            <a:endParaRPr sz="1100" dirty="0">
              <a:solidFill>
                <a:schemeClr val="dk1"/>
              </a:solidFill>
            </a:endParaRPr>
          </a:p>
          <a:p>
            <a:pPr marL="0" lvl="0" indent="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La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solución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se ha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implementado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con </a:t>
            </a:r>
            <a:r>
              <a:rPr lang="en-US" sz="2800" b="1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PHP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en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el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lado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del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servidor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, </a:t>
            </a:r>
            <a:r>
              <a:rPr lang="en-US" sz="2800" b="1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MySQL/MariaDB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como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motor de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persistencia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y </a:t>
            </a:r>
            <a:r>
              <a:rPr lang="en-US" sz="2800" b="1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HTML, CSS y JavaScript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en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el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cliente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. El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despliegue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previsto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se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realiza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en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entorno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local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mediante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b="1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XAMPP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(Apache + PHP + MariaDB). La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arquitectura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sigue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un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modelo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clásico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de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aplicación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web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monolítica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con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páginas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PHP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que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ejecutan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consultas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preparadas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contra la base de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datos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y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controlan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el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acceso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mediante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sesiones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PHP y roles de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usuario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.</a:t>
            </a:r>
            <a:endParaRPr sz="2800" dirty="0">
              <a:solidFill>
                <a:schemeClr val="lt1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  <a:p>
            <a:pPr marL="0" marR="0" lvl="0" indent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57" name="Google Shape;157;p6" descr="PHP Cheatshee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5987" y="5991817"/>
            <a:ext cx="3988254" cy="2740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6" descr="Qué es Javascript y por qué es necesario para el sitio web People Like Us?  | People Like Us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5036" y="5966098"/>
            <a:ext cx="4156307" cy="2791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D39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4a539f2cf_0_21"/>
          <p:cNvSpPr txBox="1"/>
          <p:nvPr/>
        </p:nvSpPr>
        <p:spPr>
          <a:xfrm>
            <a:off x="381000" y="9614535"/>
            <a:ext cx="4314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sng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overview page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e4a539f2cf_0_21"/>
          <p:cNvSpPr txBox="1"/>
          <p:nvPr/>
        </p:nvSpPr>
        <p:spPr>
          <a:xfrm>
            <a:off x="639250" y="3582925"/>
            <a:ext cx="71967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- Backend: PHP (principal)</a:t>
            </a:r>
            <a:br>
              <a:rPr lang="en-US" sz="36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</a:br>
            <a:endParaRPr sz="3600" b="0" i="0" u="none" strike="noStrike" cap="none" dirty="0">
              <a:solidFill>
                <a:srgbClr val="F9F6FF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- Frontend: HTML, CSS, JS</a:t>
            </a:r>
            <a:r>
              <a:rPr lang="en-US" sz="4200" i="0" u="none" strike="noStrike" cap="none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pa</a:t>
            </a:r>
            <a:r>
              <a:rPr lang="en-US" sz="42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ra </a:t>
            </a:r>
            <a:r>
              <a:rPr lang="en-US" sz="42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filtros</a:t>
            </a:r>
            <a:r>
              <a:rPr lang="en-US" sz="42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, </a:t>
            </a:r>
            <a:r>
              <a:rPr lang="en-US" sz="42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modales</a:t>
            </a:r>
            <a:r>
              <a:rPr lang="en-US" sz="42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y </a:t>
            </a:r>
            <a:r>
              <a:rPr lang="en-US" sz="42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componentes</a:t>
            </a:r>
            <a:r>
              <a:rPr lang="en-US" sz="42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42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interactivos</a:t>
            </a:r>
            <a:r>
              <a:rPr lang="en-US" sz="42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, </a:t>
            </a:r>
            <a:r>
              <a:rPr lang="en-US" sz="36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Java</a:t>
            </a:r>
            <a:br>
              <a:rPr lang="en-US" sz="36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</a:br>
            <a:endParaRPr sz="3600" b="0" i="0" u="none" strike="noStrike" cap="none" dirty="0">
              <a:solidFill>
                <a:srgbClr val="F9F6FF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- Base de </a:t>
            </a:r>
            <a:r>
              <a:rPr lang="en-US" sz="36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datos</a:t>
            </a:r>
            <a:r>
              <a:rPr lang="en-US" sz="36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: MySQL</a:t>
            </a:r>
            <a:endParaRPr dirty="0"/>
          </a:p>
        </p:txBody>
      </p:sp>
      <p:pic>
        <p:nvPicPr>
          <p:cNvPr id="165" name="Google Shape;165;g3e4a539f2cf_0_21" descr="Desarrollo MySQL – Gestión de Base de Dato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73862" y="1554849"/>
            <a:ext cx="3552288" cy="241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e4a539f2cf_0_21" descr="Qué es CSS: Ventajas y funcionamiento Yeeply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7887" y="5619936"/>
            <a:ext cx="3988254" cy="2791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3e4a539f2cf_0_21" descr="A Beginner's Guide to Learning HTML: My First Step Into Web Development |  by Deborahkudaru | Medium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637542" y="2673915"/>
            <a:ext cx="3938742" cy="241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e4a539f2cf_0_21" descr="Introduction to Java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528761" y="6874192"/>
            <a:ext cx="4156306" cy="2740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D39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 txBox="1"/>
          <p:nvPr/>
        </p:nvSpPr>
        <p:spPr>
          <a:xfrm>
            <a:off x="934600" y="902850"/>
            <a:ext cx="16878300" cy="19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	 	</a:t>
            </a:r>
            <a:endParaRPr sz="11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	 	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rgbClr val="8C52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Arquitectura web y modelo cliente-servidor</a:t>
            </a:r>
            <a:endParaRPr sz="6000" b="1">
              <a:solidFill>
                <a:srgbClr val="8C52F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		 	 </a:t>
            </a:r>
            <a:endParaRPr sz="6400">
              <a:solidFill>
                <a:srgbClr val="A477FF"/>
              </a:solidFill>
              <a:latin typeface="Merriweather Sans Light"/>
              <a:ea typeface="Merriweather Sans Light"/>
              <a:cs typeface="Merriweather Sans Light"/>
              <a:sym typeface="Merriweather Sans Light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381000" y="9614535"/>
            <a:ext cx="4314825" cy="29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sng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overview page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7"/>
          <p:cNvGrpSpPr/>
          <p:nvPr/>
        </p:nvGrpSpPr>
        <p:grpSpPr>
          <a:xfrm>
            <a:off x="0" y="-325486"/>
            <a:ext cx="18288000" cy="706486"/>
            <a:chOff x="0" y="-85725"/>
            <a:chExt cx="4816593" cy="186071"/>
          </a:xfrm>
        </p:grpSpPr>
        <p:sp>
          <p:nvSpPr>
            <p:cNvPr id="176" name="Google Shape;176;p7"/>
            <p:cNvSpPr/>
            <p:nvPr/>
          </p:nvSpPr>
          <p:spPr>
            <a:xfrm>
              <a:off x="0" y="0"/>
              <a:ext cx="4816592" cy="100346"/>
            </a:xfrm>
            <a:custGeom>
              <a:avLst/>
              <a:gdLst/>
              <a:ahLst/>
              <a:cxnLst/>
              <a:rect l="l" t="t" r="r" b="b"/>
              <a:pathLst>
                <a:path w="4816592" h="100346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00346"/>
                  </a:lnTo>
                  <a:lnTo>
                    <a:pt x="0" y="100346"/>
                  </a:lnTo>
                  <a:close/>
                </a:path>
              </a:pathLst>
            </a:custGeom>
            <a:gradFill>
              <a:gsLst>
                <a:gs pos="0">
                  <a:srgbClr val="8C52FF"/>
                </a:gs>
                <a:gs pos="100000">
                  <a:srgbClr val="FFFFFF">
                    <a:alpha val="11372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7"/>
            <p:cNvSpPr txBox="1"/>
            <p:nvPr/>
          </p:nvSpPr>
          <p:spPr>
            <a:xfrm>
              <a:off x="0" y="-85725"/>
              <a:ext cx="4816593" cy="186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7"/>
          <p:cNvSpPr txBox="1"/>
          <p:nvPr/>
        </p:nvSpPr>
        <p:spPr>
          <a:xfrm>
            <a:off x="934600" y="2240900"/>
            <a:ext cx="15724800" cy="4690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dirty="0">
                <a:solidFill>
                  <a:schemeClr val="dk1"/>
                </a:solidFill>
              </a:rPr>
              <a:t>	 	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dirty="0">
                <a:solidFill>
                  <a:schemeClr val="dk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	 	</a:t>
            </a:r>
            <a:endParaRPr sz="1100" dirty="0">
              <a:solidFill>
                <a:schemeClr val="dk1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  <a:p>
            <a:pPr marL="0" lvl="0" indent="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En </a:t>
            </a:r>
            <a:r>
              <a:rPr lang="en-US" sz="2800" b="1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Elite Players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, Apache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recibe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la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petición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,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el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intérprete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PHP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procesa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el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hello.php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asociado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y MariaDB(Base de Datos)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responde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a las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consultas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SQL. El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proyecto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se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aproxima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a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una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arquitectura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de 4 </a:t>
            </a:r>
            <a:r>
              <a:rPr lang="en-US" sz="2800" dirty="0" err="1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capas</a:t>
            </a:r>
            <a:r>
              <a:rPr lang="en-US" sz="2800" dirty="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.</a:t>
            </a:r>
            <a:endParaRPr sz="2800" dirty="0">
              <a:solidFill>
                <a:schemeClr val="lt1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lt1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lt1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lt1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  <a:p>
            <a:pPr marL="0" marR="0" lvl="1" indent="0" algn="ctr" rtl="0">
              <a:lnSpc>
                <a:spcPct val="140016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endParaRPr sz="2499" dirty="0">
              <a:solidFill>
                <a:srgbClr val="F9F6FF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</p:txBody>
      </p:sp>
      <p:sp>
        <p:nvSpPr>
          <p:cNvPr id="179" name="Google Shape;179;p7"/>
          <p:cNvSpPr txBox="1"/>
          <p:nvPr/>
        </p:nvSpPr>
        <p:spPr>
          <a:xfrm>
            <a:off x="323850" y="55344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	 	</a:t>
            </a:r>
            <a:endParaRPr sz="1700">
              <a:solidFill>
                <a:schemeClr val="lt1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	 	 </a:t>
            </a:r>
            <a:endParaRPr sz="1700">
              <a:solidFill>
                <a:schemeClr val="lt1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</p:txBody>
      </p:sp>
      <p:pic>
        <p:nvPicPr>
          <p:cNvPr id="180" name="Google Shape;180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4848" y="4509950"/>
            <a:ext cx="9528502" cy="510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D39"/>
        </a:solidFill>
        <a:effectLst/>
      </p:bgPr>
    </p:bg>
    <p:spTree>
      <p:nvGrpSpPr>
        <p:cNvPr id="1" name="Shape 172">
          <a:extLst>
            <a:ext uri="{FF2B5EF4-FFF2-40B4-BE49-F238E27FC236}">
              <a16:creationId xmlns:a16="http://schemas.microsoft.com/office/drawing/2014/main" id="{5CCE4ACA-B0B3-8520-E52E-CF70C4940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>
            <a:extLst>
              <a:ext uri="{FF2B5EF4-FFF2-40B4-BE49-F238E27FC236}">
                <a16:creationId xmlns:a16="http://schemas.microsoft.com/office/drawing/2014/main" id="{1253B0AE-0A0D-8229-D022-F48DF78EB7BF}"/>
              </a:ext>
            </a:extLst>
          </p:cNvPr>
          <p:cNvSpPr txBox="1"/>
          <p:nvPr/>
        </p:nvSpPr>
        <p:spPr>
          <a:xfrm>
            <a:off x="153329" y="736277"/>
            <a:ext cx="16878300" cy="162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dirty="0">
                <a:solidFill>
                  <a:schemeClr val="dk1"/>
                </a:solidFill>
              </a:rPr>
              <a:t>	 	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dirty="0">
                <a:solidFill>
                  <a:schemeClr val="dk1"/>
                </a:solidFill>
              </a:rPr>
              <a:t>	 	</a:t>
            </a:r>
            <a:endParaRPr lang="es-ES" sz="1100" dirty="0">
              <a:solidFill>
                <a:schemeClr val="dk1"/>
              </a:solidFill>
            </a:endParaRPr>
          </a:p>
          <a:p>
            <a:pPr lvl="0">
              <a:lnSpc>
                <a:spcPct val="115000"/>
              </a:lnSpc>
              <a:spcBef>
                <a:spcPts val="1200"/>
              </a:spcBef>
            </a:pPr>
            <a:r>
              <a:rPr lang="en-US" sz="6000" b="1" dirty="0">
                <a:solidFill>
                  <a:srgbClr val="8C52FF"/>
                </a:solidFill>
                <a:latin typeface="Merriweather Sans"/>
                <a:sym typeface="Merriweather Sans"/>
              </a:rPr>
              <a:t>Mercado</a:t>
            </a:r>
            <a:r>
              <a:rPr lang="en-US" sz="6000" b="1" dirty="0">
                <a:solidFill>
                  <a:srgbClr val="8C52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de </a:t>
            </a:r>
            <a:r>
              <a:rPr lang="es-ES" sz="6000" b="1" dirty="0">
                <a:solidFill>
                  <a:srgbClr val="8C52FF"/>
                </a:solidFill>
                <a:latin typeface="Merriweather Sans"/>
                <a:sym typeface="Inclusive Sans"/>
              </a:rPr>
              <a:t>Transferencia </a:t>
            </a:r>
            <a:r>
              <a:rPr lang="es-ES" sz="1100" dirty="0">
                <a:solidFill>
                  <a:schemeClr val="dk1"/>
                </a:solidFill>
              </a:rPr>
              <a:t>	 	 </a:t>
            </a:r>
            <a:endParaRPr lang="es-ES" sz="6400" dirty="0">
              <a:solidFill>
                <a:srgbClr val="A477FF"/>
              </a:solidFill>
              <a:latin typeface="Merriweather Sans Light"/>
              <a:ea typeface="Merriweather Sans Light"/>
              <a:cs typeface="Merriweather Sans Light"/>
              <a:sym typeface="Merriweather Sans Light"/>
            </a:endParaRPr>
          </a:p>
        </p:txBody>
      </p:sp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BEFA4BAA-9E63-E695-41F4-6869095AF8F3}"/>
              </a:ext>
            </a:extLst>
          </p:cNvPr>
          <p:cNvSpPr txBox="1"/>
          <p:nvPr/>
        </p:nvSpPr>
        <p:spPr>
          <a:xfrm>
            <a:off x="381000" y="9614535"/>
            <a:ext cx="4314825" cy="29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sng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overview page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7">
            <a:extLst>
              <a:ext uri="{FF2B5EF4-FFF2-40B4-BE49-F238E27FC236}">
                <a16:creationId xmlns:a16="http://schemas.microsoft.com/office/drawing/2014/main" id="{7E479DAC-8611-D6C0-A443-F86B1BDD41CB}"/>
              </a:ext>
            </a:extLst>
          </p:cNvPr>
          <p:cNvGrpSpPr/>
          <p:nvPr/>
        </p:nvGrpSpPr>
        <p:grpSpPr>
          <a:xfrm>
            <a:off x="0" y="-325486"/>
            <a:ext cx="18288000" cy="706486"/>
            <a:chOff x="0" y="-85725"/>
            <a:chExt cx="4816593" cy="186071"/>
          </a:xfrm>
        </p:grpSpPr>
        <p:sp>
          <p:nvSpPr>
            <p:cNvPr id="176" name="Google Shape;176;p7">
              <a:extLst>
                <a:ext uri="{FF2B5EF4-FFF2-40B4-BE49-F238E27FC236}">
                  <a16:creationId xmlns:a16="http://schemas.microsoft.com/office/drawing/2014/main" id="{E6C035F4-BF94-088B-A2F9-57C7FBF44A10}"/>
                </a:ext>
              </a:extLst>
            </p:cNvPr>
            <p:cNvSpPr/>
            <p:nvPr/>
          </p:nvSpPr>
          <p:spPr>
            <a:xfrm>
              <a:off x="0" y="0"/>
              <a:ext cx="4816592" cy="100346"/>
            </a:xfrm>
            <a:custGeom>
              <a:avLst/>
              <a:gdLst/>
              <a:ahLst/>
              <a:cxnLst/>
              <a:rect l="l" t="t" r="r" b="b"/>
              <a:pathLst>
                <a:path w="4816592" h="100346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00346"/>
                  </a:lnTo>
                  <a:lnTo>
                    <a:pt x="0" y="100346"/>
                  </a:lnTo>
                  <a:close/>
                </a:path>
              </a:pathLst>
            </a:custGeom>
            <a:gradFill>
              <a:gsLst>
                <a:gs pos="0">
                  <a:srgbClr val="8C52FF"/>
                </a:gs>
                <a:gs pos="100000">
                  <a:srgbClr val="FFFFFF">
                    <a:alpha val="11372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7">
              <a:extLst>
                <a:ext uri="{FF2B5EF4-FFF2-40B4-BE49-F238E27FC236}">
                  <a16:creationId xmlns:a16="http://schemas.microsoft.com/office/drawing/2014/main" id="{7072E602-0612-851E-7EB8-32C5EF9CB15F}"/>
                </a:ext>
              </a:extLst>
            </p:cNvPr>
            <p:cNvSpPr txBox="1"/>
            <p:nvPr/>
          </p:nvSpPr>
          <p:spPr>
            <a:xfrm>
              <a:off x="0" y="-85725"/>
              <a:ext cx="4816593" cy="186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7">
            <a:extLst>
              <a:ext uri="{FF2B5EF4-FFF2-40B4-BE49-F238E27FC236}">
                <a16:creationId xmlns:a16="http://schemas.microsoft.com/office/drawing/2014/main" id="{4E3907CB-E7B2-BF7D-641A-848689571655}"/>
              </a:ext>
            </a:extLst>
          </p:cNvPr>
          <p:cNvSpPr txBox="1"/>
          <p:nvPr/>
        </p:nvSpPr>
        <p:spPr>
          <a:xfrm>
            <a:off x="722910" y="2876862"/>
            <a:ext cx="8583322" cy="4767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dirty="0">
                <a:solidFill>
                  <a:schemeClr val="dk1"/>
                </a:solidFill>
              </a:rPr>
              <a:t>	 	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dirty="0">
                <a:solidFill>
                  <a:schemeClr val="dk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	 	</a:t>
            </a:r>
            <a:endParaRPr sz="1100" dirty="0">
              <a:solidFill>
                <a:schemeClr val="dk1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  <a:p>
            <a:pPr marL="457200" lvl="0" indent="-457200">
              <a:buFontTx/>
              <a:buChar char="-"/>
            </a:pPr>
            <a:r>
              <a:rPr lang="es-ES" sz="2800" dirty="0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  <a:t>En mercado de Transferencia podemos gestionar la venta de jugador. </a:t>
            </a:r>
          </a:p>
          <a:p>
            <a:pPr marL="457200" lvl="0" indent="-457200">
              <a:buFontTx/>
              <a:buChar char="-"/>
            </a:pPr>
            <a:r>
              <a:rPr lang="es-ES" sz="2800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Su objetivo principal es gestionar que jugador podemos vender en cual equipo de futbol dependiendo de club que vaya el jugador podemos gestionar el precio y fecha de transferencia.  </a:t>
            </a:r>
            <a:endParaRPr sz="2800" dirty="0">
              <a:solidFill>
                <a:schemeClr val="lt1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lt1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  <a:p>
            <a:pPr marL="0" marR="0" lvl="1" indent="0" algn="ctr" rtl="0">
              <a:lnSpc>
                <a:spcPct val="140016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endParaRPr sz="2499" dirty="0">
              <a:solidFill>
                <a:srgbClr val="F9F6FF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</p:txBody>
      </p:sp>
      <p:sp>
        <p:nvSpPr>
          <p:cNvPr id="179" name="Google Shape;179;p7">
            <a:extLst>
              <a:ext uri="{FF2B5EF4-FFF2-40B4-BE49-F238E27FC236}">
                <a16:creationId xmlns:a16="http://schemas.microsoft.com/office/drawing/2014/main" id="{B8209093-7950-4DE5-D342-6A530BA90A3C}"/>
              </a:ext>
            </a:extLst>
          </p:cNvPr>
          <p:cNvSpPr txBox="1"/>
          <p:nvPr/>
        </p:nvSpPr>
        <p:spPr>
          <a:xfrm>
            <a:off x="323850" y="55344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	 	</a:t>
            </a:r>
            <a:endParaRPr sz="1700">
              <a:solidFill>
                <a:schemeClr val="lt1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	 	 </a:t>
            </a:r>
            <a:endParaRPr sz="1700">
              <a:solidFill>
                <a:schemeClr val="lt1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31A120-A01D-A2E1-96BF-41270AB4E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7136" y="2732450"/>
            <a:ext cx="8268628" cy="5603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242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D39"/>
        </a:solidFill>
        <a:effectLst/>
      </p:bgPr>
    </p:bg>
    <p:spTree>
      <p:nvGrpSpPr>
        <p:cNvPr id="1" name="Shape 172">
          <a:extLst>
            <a:ext uri="{FF2B5EF4-FFF2-40B4-BE49-F238E27FC236}">
              <a16:creationId xmlns:a16="http://schemas.microsoft.com/office/drawing/2014/main" id="{F7964762-824C-5D88-CAFD-CD9A7EC44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>
            <a:extLst>
              <a:ext uri="{FF2B5EF4-FFF2-40B4-BE49-F238E27FC236}">
                <a16:creationId xmlns:a16="http://schemas.microsoft.com/office/drawing/2014/main" id="{38AEEF8F-B791-9905-52BE-36F6C6C8F56D}"/>
              </a:ext>
            </a:extLst>
          </p:cNvPr>
          <p:cNvSpPr txBox="1"/>
          <p:nvPr/>
        </p:nvSpPr>
        <p:spPr>
          <a:xfrm>
            <a:off x="153329" y="736277"/>
            <a:ext cx="168783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0" b="1" dirty="0" err="1">
                <a:solidFill>
                  <a:srgbClr val="8C52FF"/>
                </a:solidFill>
                <a:latin typeface="Merriweather Sans"/>
                <a:sym typeface="Merriweather Sans"/>
              </a:rPr>
              <a:t>Tablas</a:t>
            </a:r>
            <a:r>
              <a:rPr lang="en-US" sz="6000" b="1" dirty="0">
                <a:solidFill>
                  <a:srgbClr val="8C52FF"/>
                </a:solidFill>
                <a:latin typeface="Merriweather Sans"/>
                <a:sym typeface="Merriweather Sans"/>
              </a:rPr>
              <a:t> </a:t>
            </a:r>
            <a:r>
              <a:rPr lang="en-US" sz="6000" b="1" dirty="0" err="1">
                <a:solidFill>
                  <a:srgbClr val="8C52FF"/>
                </a:solidFill>
                <a:latin typeface="Merriweather Sans"/>
                <a:sym typeface="Merriweather Sans"/>
              </a:rPr>
              <a:t>Principales</a:t>
            </a:r>
            <a:r>
              <a:rPr lang="en-US" sz="6000" b="1" dirty="0">
                <a:solidFill>
                  <a:srgbClr val="8C52FF"/>
                </a:solidFill>
                <a:latin typeface="Merriweather Sans"/>
                <a:sym typeface="Merriweather Sans"/>
              </a:rPr>
              <a:t>:  </a:t>
            </a:r>
            <a:r>
              <a:rPr lang="es-ES" sz="1100" dirty="0">
                <a:solidFill>
                  <a:schemeClr val="dk1"/>
                </a:solidFill>
              </a:rPr>
              <a:t>	 	 </a:t>
            </a:r>
            <a:endParaRPr lang="es-ES" sz="6400" dirty="0">
              <a:solidFill>
                <a:srgbClr val="A477FF"/>
              </a:solidFill>
              <a:latin typeface="Merriweather Sans Light"/>
              <a:ea typeface="Merriweather Sans Light"/>
              <a:cs typeface="Merriweather Sans Light"/>
              <a:sym typeface="Merriweather Sans Light"/>
            </a:endParaRPr>
          </a:p>
        </p:txBody>
      </p:sp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D2B3066F-E3EA-DD18-47D1-21C604BF8AF0}"/>
              </a:ext>
            </a:extLst>
          </p:cNvPr>
          <p:cNvSpPr txBox="1"/>
          <p:nvPr/>
        </p:nvSpPr>
        <p:spPr>
          <a:xfrm>
            <a:off x="381000" y="9614535"/>
            <a:ext cx="4314825" cy="29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sng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overview page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7">
            <a:extLst>
              <a:ext uri="{FF2B5EF4-FFF2-40B4-BE49-F238E27FC236}">
                <a16:creationId xmlns:a16="http://schemas.microsoft.com/office/drawing/2014/main" id="{8F56C157-ABD6-C880-454D-AD39D90788A9}"/>
              </a:ext>
            </a:extLst>
          </p:cNvPr>
          <p:cNvGrpSpPr/>
          <p:nvPr/>
        </p:nvGrpSpPr>
        <p:grpSpPr>
          <a:xfrm>
            <a:off x="0" y="-325486"/>
            <a:ext cx="18288000" cy="706486"/>
            <a:chOff x="0" y="-85725"/>
            <a:chExt cx="4816593" cy="186071"/>
          </a:xfrm>
        </p:grpSpPr>
        <p:sp>
          <p:nvSpPr>
            <p:cNvPr id="176" name="Google Shape;176;p7">
              <a:extLst>
                <a:ext uri="{FF2B5EF4-FFF2-40B4-BE49-F238E27FC236}">
                  <a16:creationId xmlns:a16="http://schemas.microsoft.com/office/drawing/2014/main" id="{9DF49A54-23E7-C318-E3B5-AF904FB9323F}"/>
                </a:ext>
              </a:extLst>
            </p:cNvPr>
            <p:cNvSpPr/>
            <p:nvPr/>
          </p:nvSpPr>
          <p:spPr>
            <a:xfrm>
              <a:off x="0" y="0"/>
              <a:ext cx="4816592" cy="100346"/>
            </a:xfrm>
            <a:custGeom>
              <a:avLst/>
              <a:gdLst/>
              <a:ahLst/>
              <a:cxnLst/>
              <a:rect l="l" t="t" r="r" b="b"/>
              <a:pathLst>
                <a:path w="4816592" h="100346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00346"/>
                  </a:lnTo>
                  <a:lnTo>
                    <a:pt x="0" y="100346"/>
                  </a:lnTo>
                  <a:close/>
                </a:path>
              </a:pathLst>
            </a:custGeom>
            <a:gradFill>
              <a:gsLst>
                <a:gs pos="0">
                  <a:srgbClr val="8C52FF"/>
                </a:gs>
                <a:gs pos="100000">
                  <a:srgbClr val="FFFFFF">
                    <a:alpha val="11372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7">
              <a:extLst>
                <a:ext uri="{FF2B5EF4-FFF2-40B4-BE49-F238E27FC236}">
                  <a16:creationId xmlns:a16="http://schemas.microsoft.com/office/drawing/2014/main" id="{A815B487-860B-C8FE-3CD2-BC15705C6920}"/>
                </a:ext>
              </a:extLst>
            </p:cNvPr>
            <p:cNvSpPr txBox="1"/>
            <p:nvPr/>
          </p:nvSpPr>
          <p:spPr>
            <a:xfrm>
              <a:off x="0" y="-85725"/>
              <a:ext cx="4816593" cy="186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7">
            <a:extLst>
              <a:ext uri="{FF2B5EF4-FFF2-40B4-BE49-F238E27FC236}">
                <a16:creationId xmlns:a16="http://schemas.microsoft.com/office/drawing/2014/main" id="{8CDA6588-9EE2-7021-5CA2-22CD3010A718}"/>
              </a:ext>
            </a:extLst>
          </p:cNvPr>
          <p:cNvSpPr txBox="1"/>
          <p:nvPr/>
        </p:nvSpPr>
        <p:spPr>
          <a:xfrm>
            <a:off x="162236" y="1725394"/>
            <a:ext cx="8583322" cy="971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dirty="0">
                <a:solidFill>
                  <a:schemeClr val="dk1"/>
                </a:solidFill>
              </a:rPr>
              <a:t>	 	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dirty="0">
                <a:solidFill>
                  <a:schemeClr val="dk1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	 	</a:t>
            </a:r>
            <a:endParaRPr sz="1100" dirty="0">
              <a:solidFill>
                <a:schemeClr val="dk1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  <a:p>
            <a:pPr marL="457200" lvl="0" indent="-457200">
              <a:buFontTx/>
              <a:buChar char="-"/>
            </a:pPr>
            <a:r>
              <a:rPr lang="es-ES" sz="2800" dirty="0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  <a:t>En la aplicación de Futbol toda la información o datos de </a:t>
            </a:r>
            <a:r>
              <a:rPr lang="es-ES" sz="2800" dirty="0" err="1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  <a:t>jugadores,partidos,clubes</a:t>
            </a:r>
            <a:r>
              <a:rPr lang="es-ES" sz="2800" dirty="0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  <a:t> se gestionan desde un base de datos </a:t>
            </a:r>
            <a:r>
              <a:rPr lang="es-ES" sz="2800" b="1" dirty="0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  <a:t>MYSQL</a:t>
            </a:r>
            <a:r>
              <a:rPr lang="es-ES" sz="2800" dirty="0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  <a:t> que esta basada en muchas tablas:</a:t>
            </a:r>
            <a:br>
              <a:rPr lang="es-ES" sz="2800" dirty="0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</a:br>
            <a:br>
              <a:rPr lang="es-ES" sz="2800" dirty="0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</a:br>
            <a:r>
              <a:rPr lang="es-ES" sz="2800" dirty="0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  <a:t>- Clubes: Para gestionar todos los Datos de Clubes. </a:t>
            </a:r>
            <a:br>
              <a:rPr lang="es-ES" sz="2800" dirty="0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</a:br>
            <a:r>
              <a:rPr lang="es-ES" sz="2800" dirty="0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  <a:t>- Favoritos:  Se gestionan todos los jugadores que sean favoritos dependiendo de usuario.</a:t>
            </a:r>
            <a:br>
              <a:rPr lang="es-ES" sz="2800" dirty="0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</a:br>
            <a:r>
              <a:rPr lang="es-ES" sz="2800" dirty="0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  <a:t>- Jugadores: Para gestionar todos los Datos de Jugadores. </a:t>
            </a:r>
            <a:br>
              <a:rPr lang="es-ES" sz="2800" dirty="0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</a:br>
            <a:r>
              <a:rPr lang="es-ES" sz="2800" dirty="0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  <a:t>- Partidos: Esta tabla se usa principalmente para manejar todos los datos de partidos como </a:t>
            </a:r>
            <a:r>
              <a:rPr lang="es-ES" sz="2800" dirty="0" err="1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  <a:t>hora,lugar,estado</a:t>
            </a:r>
            <a:r>
              <a:rPr lang="es-ES" sz="2800" dirty="0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  <a:t> de partidos. </a:t>
            </a:r>
            <a:br>
              <a:rPr lang="es-ES" sz="2800" dirty="0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</a:br>
            <a:r>
              <a:rPr lang="es-ES" sz="2800" dirty="0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  <a:t>- Transferencias: Se usa principalmente para guardar las transferencias de jugadores </a:t>
            </a:r>
            <a:r>
              <a:rPr lang="es-ES" sz="2800" dirty="0" err="1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  <a:t>selecionado</a:t>
            </a:r>
            <a:r>
              <a:rPr lang="es-ES" sz="2800" dirty="0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  <a:t> por el usuario. </a:t>
            </a:r>
            <a:br>
              <a:rPr lang="es-ES" sz="2800" dirty="0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</a:br>
            <a:r>
              <a:rPr lang="es-ES" sz="2800" dirty="0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  <a:t> </a:t>
            </a:r>
            <a:br>
              <a:rPr lang="es-ES" sz="2800" dirty="0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</a:br>
            <a:br>
              <a:rPr lang="es-ES" sz="2800" dirty="0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</a:br>
            <a:r>
              <a:rPr lang="es-ES" sz="2800" dirty="0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  <a:t> </a:t>
            </a:r>
            <a:endParaRPr sz="2800" dirty="0">
              <a:solidFill>
                <a:schemeClr val="lt1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  <a:p>
            <a:pPr marL="0" marR="0" lvl="1" indent="0" algn="ctr" rtl="0">
              <a:lnSpc>
                <a:spcPct val="140016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endParaRPr sz="2499" dirty="0">
              <a:solidFill>
                <a:srgbClr val="F9F6FF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2190F0-FF29-E6B0-B3D2-FB2ECB2DE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4472" y="2219227"/>
            <a:ext cx="5635231" cy="592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709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D39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4"/>
          <p:cNvPicPr preferRelativeResize="0"/>
          <p:nvPr/>
        </p:nvPicPr>
        <p:blipFill rotWithShape="1">
          <a:blip r:embed="rId3">
            <a:alphaModFix/>
          </a:blip>
          <a:srcRect l="12157"/>
          <a:stretch/>
        </p:blipFill>
        <p:spPr>
          <a:xfrm>
            <a:off x="0" y="0"/>
            <a:ext cx="8398601" cy="10287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4"/>
          <p:cNvSpPr txBox="1"/>
          <p:nvPr/>
        </p:nvSpPr>
        <p:spPr>
          <a:xfrm>
            <a:off x="10032048" y="2874891"/>
            <a:ext cx="7675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9"/>
              <a:buFont typeface="Arial"/>
              <a:buNone/>
            </a:pPr>
            <a:r>
              <a:rPr lang="en-US" sz="7199">
                <a:solidFill>
                  <a:srgbClr val="FFFFFF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Muchas Gracias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7" name="Google Shape;187;p14"/>
          <p:cNvGrpSpPr/>
          <p:nvPr/>
        </p:nvGrpSpPr>
        <p:grpSpPr>
          <a:xfrm>
            <a:off x="10231798" y="4770712"/>
            <a:ext cx="7914900" cy="878245"/>
            <a:chOff x="0" y="-38100"/>
            <a:chExt cx="10553200" cy="1170992"/>
          </a:xfrm>
        </p:grpSpPr>
        <p:sp>
          <p:nvSpPr>
            <p:cNvPr id="188" name="Google Shape;188;p14"/>
            <p:cNvSpPr txBox="1"/>
            <p:nvPr/>
          </p:nvSpPr>
          <p:spPr>
            <a:xfrm>
              <a:off x="0" y="-38100"/>
              <a:ext cx="10233603" cy="518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F9F6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Email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4"/>
            <p:cNvSpPr txBox="1"/>
            <p:nvPr/>
          </p:nvSpPr>
          <p:spPr>
            <a:xfrm>
              <a:off x="319600" y="640292"/>
              <a:ext cx="10233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rgbClr val="F9F6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eliteplayers@gmail.com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" name="Google Shape;190;p14"/>
          <p:cNvGrpSpPr/>
          <p:nvPr/>
        </p:nvGrpSpPr>
        <p:grpSpPr>
          <a:xfrm>
            <a:off x="10231798" y="6133184"/>
            <a:ext cx="7914900" cy="1358431"/>
            <a:chOff x="0" y="-38100"/>
            <a:chExt cx="10553200" cy="1811241"/>
          </a:xfrm>
        </p:grpSpPr>
        <p:sp>
          <p:nvSpPr>
            <p:cNvPr id="191" name="Google Shape;191;p14"/>
            <p:cNvSpPr txBox="1"/>
            <p:nvPr/>
          </p:nvSpPr>
          <p:spPr>
            <a:xfrm>
              <a:off x="0" y="-38100"/>
              <a:ext cx="10233603" cy="518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F9F6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Social media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4"/>
            <p:cNvSpPr txBox="1"/>
            <p:nvPr/>
          </p:nvSpPr>
          <p:spPr>
            <a:xfrm>
              <a:off x="319600" y="640341"/>
              <a:ext cx="10233600" cy="113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rgbClr val="F9F6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Insta: Elite Players</a:t>
              </a:r>
              <a:br>
                <a:rPr lang="en-US" sz="2400">
                  <a:solidFill>
                    <a:srgbClr val="F9F6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</a:br>
              <a:r>
                <a:rPr lang="en-US" sz="2400">
                  <a:solidFill>
                    <a:srgbClr val="F9F6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Facebook: Elite Players</a:t>
              </a:r>
              <a:endParaRPr sz="240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endParaRPr>
            </a:p>
          </p:txBody>
        </p:sp>
      </p:grpSp>
      <p:grpSp>
        <p:nvGrpSpPr>
          <p:cNvPr id="193" name="Google Shape;193;p14"/>
          <p:cNvGrpSpPr/>
          <p:nvPr/>
        </p:nvGrpSpPr>
        <p:grpSpPr>
          <a:xfrm>
            <a:off x="10231798" y="7975856"/>
            <a:ext cx="7914900" cy="937406"/>
            <a:chOff x="0" y="602166"/>
            <a:chExt cx="10553200" cy="1249874"/>
          </a:xfrm>
        </p:grpSpPr>
        <p:sp>
          <p:nvSpPr>
            <p:cNvPr id="194" name="Google Shape;194;p14"/>
            <p:cNvSpPr txBox="1"/>
            <p:nvPr/>
          </p:nvSpPr>
          <p:spPr>
            <a:xfrm>
              <a:off x="0" y="602166"/>
              <a:ext cx="10233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F9F6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Contact number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4"/>
            <p:cNvSpPr txBox="1"/>
            <p:nvPr/>
          </p:nvSpPr>
          <p:spPr>
            <a:xfrm>
              <a:off x="319600" y="1359441"/>
              <a:ext cx="10233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rgbClr val="F9F6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612</a:t>
              </a:r>
              <a:r>
                <a:rPr lang="en-US" sz="2400" b="0" i="0" u="none" strike="noStrike" cap="none">
                  <a:solidFill>
                    <a:srgbClr val="F9F6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-</a:t>
              </a:r>
              <a:r>
                <a:rPr lang="en-US" sz="2400">
                  <a:solidFill>
                    <a:srgbClr val="F9F6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449</a:t>
              </a:r>
              <a:r>
                <a:rPr lang="en-US" sz="2400" b="0" i="0" u="none" strike="noStrike" cap="none">
                  <a:solidFill>
                    <a:srgbClr val="F9F6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-</a:t>
              </a:r>
              <a:r>
                <a:rPr lang="en-US" sz="2400">
                  <a:solidFill>
                    <a:srgbClr val="F9F6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7589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6" name="Google Shape;196;p14"/>
          <p:cNvSpPr txBox="1"/>
          <p:nvPr/>
        </p:nvSpPr>
        <p:spPr>
          <a:xfrm>
            <a:off x="381000" y="9614535"/>
            <a:ext cx="4314825" cy="29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sng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overview page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14" title="logo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861198" y="231339"/>
            <a:ext cx="1285500" cy="1189500"/>
          </a:xfrm>
          <a:prstGeom prst="ellipse">
            <a:avLst/>
          </a:prstGeom>
          <a:noFill/>
          <a:ln w="63500" cap="rnd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292100" dir="5400000" sx="-80000" sy="-18000" rotWithShape="0">
              <a:srgbClr val="000000">
                <a:alpha val="21960"/>
              </a:srgbClr>
            </a:outerShdw>
          </a:effec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254</TotalTime>
  <Words>734</Words>
  <Application>Microsoft Office PowerPoint</Application>
  <PresentationFormat>Custom</PresentationFormat>
  <Paragraphs>94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Calibri</vt:lpstr>
      <vt:lpstr>Arial</vt:lpstr>
      <vt:lpstr>Merriweather Sans</vt:lpstr>
      <vt:lpstr>Inclusive Sans</vt:lpstr>
      <vt:lpstr>Merriweather Sans Light</vt:lpstr>
      <vt:lpstr>Century Gothic</vt:lpstr>
      <vt:lpstr>Wingdings 3</vt:lpstr>
      <vt:lpstr>Overlock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sagar pokhrel</cp:lastModifiedBy>
  <cp:revision>9</cp:revision>
  <dcterms:modified xsi:type="dcterms:W3CDTF">2026-06-01T11:41:10Z</dcterms:modified>
</cp:coreProperties>
</file>